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3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232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  <a:alphaModFix/>
            </a:blip>
            <a:stretch>
              <a:fillRect/>
            </a:stretch>
          </a:blip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-3175" y="2542565"/>
            <a:ext cx="6099175" cy="1254125"/>
          </a:xfrm>
          <a:custGeom>
            <a:avLst/>
            <a:gdLst/>
            <a:ahLst/>
            <a:cxnLst/>
            <a:rect l="l" t="t" r="r" b="b"/>
            <a:pathLst>
              <a:path w="6099175" h="1254125">
                <a:moveTo>
                  <a:pt x="0" y="0"/>
                </a:moveTo>
                <a:lnTo>
                  <a:pt x="3175" y="0"/>
                </a:lnTo>
                <a:lnTo>
                  <a:pt x="6099175" y="626899"/>
                </a:lnTo>
                <a:lnTo>
                  <a:pt x="0" y="1254125"/>
                </a:lnTo>
                <a:close/>
              </a:path>
            </a:pathLst>
          </a:custGeom>
          <a:solidFill>
            <a:srgbClr val="B97613">
              <a:alpha val="90196"/>
              <a:lumMod val="60000"/>
              <a:lumOff val="4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>
            <a:off x="-3175" y="2394430"/>
            <a:ext cx="12195175" cy="4477287"/>
          </a:xfrm>
          <a:custGeom>
            <a:avLst/>
            <a:gdLst/>
            <a:ahLst/>
            <a:cxnLst/>
            <a:rect l="l" t="t" r="r" b="b"/>
            <a:pathLst>
              <a:path w="12195175" h="4477287">
                <a:moveTo>
                  <a:pt x="0" y="973086"/>
                </a:moveTo>
                <a:lnTo>
                  <a:pt x="1" y="973086"/>
                </a:lnTo>
                <a:lnTo>
                  <a:pt x="1" y="1121221"/>
                </a:lnTo>
                <a:lnTo>
                  <a:pt x="0" y="1121221"/>
                </a:lnTo>
                <a:close/>
                <a:moveTo>
                  <a:pt x="6098375" y="775116"/>
                </a:moveTo>
                <a:lnTo>
                  <a:pt x="12174995" y="1399860"/>
                </a:lnTo>
                <a:lnTo>
                  <a:pt x="12195175" y="1401935"/>
                </a:lnTo>
                <a:lnTo>
                  <a:pt x="12195175" y="2375021"/>
                </a:lnTo>
                <a:lnTo>
                  <a:pt x="12195175" y="3504201"/>
                </a:lnTo>
                <a:lnTo>
                  <a:pt x="12195175" y="4477287"/>
                </a:lnTo>
                <a:lnTo>
                  <a:pt x="0" y="4477287"/>
                </a:lnTo>
                <a:lnTo>
                  <a:pt x="0" y="3504201"/>
                </a:lnTo>
                <a:lnTo>
                  <a:pt x="0" y="2375346"/>
                </a:lnTo>
                <a:lnTo>
                  <a:pt x="0" y="140226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148135"/>
                </a:lnTo>
                <a:lnTo>
                  <a:pt x="0" y="148135"/>
                </a:lnTo>
                <a:close/>
              </a:path>
            </a:pathLst>
          </a:custGeom>
          <a:solidFill>
            <a:srgbClr val="768394">
              <a:alpha val="90196"/>
              <a:lumMod val="50000"/>
            </a:srgbClr>
          </a:solidFill>
          <a:ln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utoShape 5"/>
          <p:cNvSpPr/>
          <p:nvPr/>
        </p:nvSpPr>
        <p:spPr>
          <a:xfrm flipH="1">
            <a:off x="3276324" y="1"/>
            <a:ext cx="8913353" cy="869430"/>
          </a:xfrm>
          <a:custGeom>
            <a:avLst/>
            <a:gdLst/>
            <a:ahLst/>
            <a:cxnLst/>
            <a:rect l="l" t="t" r="r" b="b"/>
            <a:pathLst>
              <a:path w="8913353" h="869430">
                <a:moveTo>
                  <a:pt x="8885486" y="0"/>
                </a:moveTo>
                <a:lnTo>
                  <a:pt x="6632659" y="0"/>
                </a:lnTo>
                <a:lnTo>
                  <a:pt x="6653468" y="2140"/>
                </a:lnTo>
                <a:lnTo>
                  <a:pt x="0" y="686369"/>
                </a:lnTo>
                <a:lnTo>
                  <a:pt x="0" y="869430"/>
                </a:lnTo>
                <a:lnTo>
                  <a:pt x="8913353" y="2710"/>
                </a:lnTo>
                <a:close/>
              </a:path>
            </a:pathLst>
          </a:custGeom>
          <a:solidFill>
            <a:srgbClr val="B97613">
              <a:alpha val="90196"/>
              <a:lumMod val="60000"/>
              <a:lumOff val="4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175" y="2542565"/>
            <a:ext cx="6099175" cy="1254125"/>
          </a:xfrm>
          <a:custGeom>
            <a:avLst/>
            <a:gdLst/>
            <a:ahLst/>
            <a:cxnLst/>
            <a:rect l="l" t="t" r="r" b="b"/>
            <a:pathLst>
              <a:path w="6099175" h="1254125">
                <a:moveTo>
                  <a:pt x="0" y="0"/>
                </a:moveTo>
                <a:lnTo>
                  <a:pt x="3175" y="0"/>
                </a:lnTo>
                <a:lnTo>
                  <a:pt x="6099175" y="626899"/>
                </a:lnTo>
                <a:lnTo>
                  <a:pt x="0" y="1254125"/>
                </a:lnTo>
                <a:close/>
              </a:path>
            </a:pathLst>
          </a:custGeom>
          <a:solidFill>
            <a:srgbClr val="B97613">
              <a:alpha val="90196"/>
              <a:lumMod val="60000"/>
              <a:lumOff val="4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-3175" y="2394430"/>
            <a:ext cx="12195175" cy="4477287"/>
          </a:xfrm>
          <a:custGeom>
            <a:avLst/>
            <a:gdLst/>
            <a:ahLst/>
            <a:cxnLst/>
            <a:rect l="l" t="t" r="r" b="b"/>
            <a:pathLst>
              <a:path w="12195175" h="4477287">
                <a:moveTo>
                  <a:pt x="0" y="973086"/>
                </a:moveTo>
                <a:lnTo>
                  <a:pt x="1" y="973086"/>
                </a:lnTo>
                <a:lnTo>
                  <a:pt x="1" y="1121221"/>
                </a:lnTo>
                <a:lnTo>
                  <a:pt x="0" y="1121221"/>
                </a:lnTo>
                <a:close/>
                <a:moveTo>
                  <a:pt x="6098375" y="775116"/>
                </a:moveTo>
                <a:lnTo>
                  <a:pt x="12174995" y="1399860"/>
                </a:lnTo>
                <a:lnTo>
                  <a:pt x="12195175" y="1401935"/>
                </a:lnTo>
                <a:lnTo>
                  <a:pt x="12195175" y="2375021"/>
                </a:lnTo>
                <a:lnTo>
                  <a:pt x="12195175" y="3504201"/>
                </a:lnTo>
                <a:lnTo>
                  <a:pt x="12195175" y="4477287"/>
                </a:lnTo>
                <a:lnTo>
                  <a:pt x="0" y="4477287"/>
                </a:lnTo>
                <a:lnTo>
                  <a:pt x="0" y="3504201"/>
                </a:lnTo>
                <a:lnTo>
                  <a:pt x="0" y="2375346"/>
                </a:lnTo>
                <a:lnTo>
                  <a:pt x="0" y="140226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148135"/>
                </a:lnTo>
                <a:lnTo>
                  <a:pt x="0" y="148135"/>
                </a:lnTo>
                <a:close/>
              </a:path>
            </a:pathLst>
          </a:custGeom>
          <a:solidFill>
            <a:srgbClr val="768394">
              <a:alpha val="90196"/>
              <a:lumMod val="75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100000"/>
              <a:lumMod val="85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  <a:alphaModFix/>
            </a:blip>
            <a:stretch>
              <a:fillRect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-3175" y="2542565"/>
            <a:ext cx="6099175" cy="1254125"/>
          </a:xfrm>
          <a:custGeom>
            <a:avLst/>
            <a:gdLst/>
            <a:ahLst/>
            <a:cxnLst/>
            <a:rect l="l" t="t" r="r" b="b"/>
            <a:pathLst>
              <a:path w="6099175" h="1254125">
                <a:moveTo>
                  <a:pt x="0" y="0"/>
                </a:moveTo>
                <a:lnTo>
                  <a:pt x="3175" y="0"/>
                </a:lnTo>
                <a:lnTo>
                  <a:pt x="6099175" y="626899"/>
                </a:lnTo>
                <a:lnTo>
                  <a:pt x="0" y="1254125"/>
                </a:lnTo>
                <a:close/>
              </a:path>
            </a:pathLst>
          </a:custGeom>
          <a:solidFill>
            <a:srgbClr val="B97613">
              <a:alpha val="90196"/>
              <a:lumMod val="60000"/>
              <a:lumOff val="40000"/>
            </a:srgbClr>
          </a:soli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-3175" y="2394430"/>
            <a:ext cx="12195175" cy="4477287"/>
          </a:xfrm>
          <a:custGeom>
            <a:avLst/>
            <a:gdLst/>
            <a:ahLst/>
            <a:cxnLst/>
            <a:rect l="l" t="t" r="r" b="b"/>
            <a:pathLst>
              <a:path w="12195175" h="4477287">
                <a:moveTo>
                  <a:pt x="0" y="973086"/>
                </a:moveTo>
                <a:lnTo>
                  <a:pt x="1" y="973086"/>
                </a:lnTo>
                <a:lnTo>
                  <a:pt x="1" y="1121221"/>
                </a:lnTo>
                <a:lnTo>
                  <a:pt x="0" y="1121221"/>
                </a:lnTo>
                <a:close/>
                <a:moveTo>
                  <a:pt x="6098375" y="775116"/>
                </a:moveTo>
                <a:lnTo>
                  <a:pt x="12174995" y="1399860"/>
                </a:lnTo>
                <a:lnTo>
                  <a:pt x="12195175" y="1401935"/>
                </a:lnTo>
                <a:lnTo>
                  <a:pt x="12195175" y="2375021"/>
                </a:lnTo>
                <a:lnTo>
                  <a:pt x="12195175" y="3504201"/>
                </a:lnTo>
                <a:lnTo>
                  <a:pt x="12195175" y="4477287"/>
                </a:lnTo>
                <a:lnTo>
                  <a:pt x="0" y="4477287"/>
                </a:lnTo>
                <a:lnTo>
                  <a:pt x="0" y="3504201"/>
                </a:lnTo>
                <a:lnTo>
                  <a:pt x="0" y="2375346"/>
                </a:lnTo>
                <a:lnTo>
                  <a:pt x="0" y="1402260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148135"/>
                </a:lnTo>
                <a:lnTo>
                  <a:pt x="0" y="148135"/>
                </a:lnTo>
                <a:close/>
              </a:path>
            </a:pathLst>
          </a:custGeom>
          <a:solidFill>
            <a:srgbClr val="768394">
              <a:alpha val="90196"/>
              <a:lumMod val="5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 flipH="1">
            <a:off x="3276324" y="1"/>
            <a:ext cx="8913353" cy="869430"/>
          </a:xfrm>
          <a:custGeom>
            <a:avLst/>
            <a:gdLst/>
            <a:ahLst/>
            <a:cxnLst/>
            <a:rect l="l" t="t" r="r" b="b"/>
            <a:pathLst>
              <a:path w="8913353" h="869430">
                <a:moveTo>
                  <a:pt x="8885486" y="0"/>
                </a:moveTo>
                <a:lnTo>
                  <a:pt x="6632659" y="0"/>
                </a:lnTo>
                <a:lnTo>
                  <a:pt x="6653468" y="2140"/>
                </a:lnTo>
                <a:lnTo>
                  <a:pt x="0" y="686369"/>
                </a:lnTo>
                <a:lnTo>
                  <a:pt x="0" y="869430"/>
                </a:lnTo>
                <a:lnTo>
                  <a:pt x="8913353" y="2710"/>
                </a:lnTo>
                <a:close/>
              </a:path>
            </a:pathLst>
          </a:custGeom>
          <a:solidFill>
            <a:srgbClr val="B97613">
              <a:alpha val="90196"/>
              <a:lumMod val="60000"/>
              <a:lumOff val="4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b95b34e-92af-4952-a506-6b6f6d0da4d9"/>
          <p:cNvGrpSpPr/>
          <p:nvPr/>
        </p:nvGrpSpPr>
        <p:grpSpPr>
          <a:xfrm>
            <a:off x="660400" y="1144814"/>
            <a:ext cx="10862468" cy="4781005"/>
            <a:chOff x="660400" y="1144814"/>
            <a:chExt cx="10862468" cy="4781005"/>
          </a:xfrm>
        </p:grpSpPr>
        <p:sp>
          <p:nvSpPr>
            <p:cNvPr id="3" name="AutoShape 3"/>
            <p:cNvSpPr/>
            <p:nvPr/>
          </p:nvSpPr>
          <p:spPr>
            <a:xfrm>
              <a:off x="669925" y="5880100"/>
              <a:ext cx="10848975" cy="45719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69925" y="5158537"/>
              <a:ext cx="10850563" cy="632662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9925" y="2648632"/>
              <a:ext cx="10850563" cy="0"/>
            </a:xfrm>
            <a:prstGeom prst="line">
              <a:avLst/>
            </a:prstGeom>
            <a:ln w="635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0400" y="1144814"/>
              <a:ext cx="10858500" cy="89443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 dirty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[19世纪末的自信与隐忧]</a:t>
              </a:r>
              <a:endParaRPr lang="en-US" sz="1100" dirty="0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665957" y="2538414"/>
              <a:ext cx="3266836" cy="3228954"/>
              <a:chOff x="665957" y="2538414"/>
              <a:chExt cx="3266836" cy="322895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665957" y="5182368"/>
                <a:ext cx="3262867" cy="585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9925" y="3563423"/>
                <a:ext cx="3262868" cy="150621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19世纪末，经典物理学取得了巨大成功。牛顿力学精确描述了宏观物体的运动，麦克斯韦电磁理论则完美解释了电、磁、光现象，物理学家们普遍认为物理学大厦已基本建成。</a:t>
                </a:r>
                <a:endParaRPr lang="en-US" sz="1100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9925" y="2890544"/>
                <a:ext cx="3262868" cy="6728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经典物理的完备</a:t>
                </a:r>
                <a:endParaRPr lang="en-US" sz="1100"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2179331" y="2538414"/>
                <a:ext cx="236120" cy="236118"/>
              </a:xfrm>
              <a:prstGeom prst="ellipse">
                <a:avLst/>
              </a:prstGeom>
              <a:ln w="12700">
                <a:solidFill>
                  <a:srgbClr val="000000">
                    <a:alpha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460602" y="2538414"/>
              <a:ext cx="3267098" cy="3228954"/>
              <a:chOff x="3455061" y="2538414"/>
              <a:chExt cx="3267098" cy="322895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455061" y="5182368"/>
                <a:ext cx="3262867" cy="585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59291" y="3563423"/>
                <a:ext cx="3262868" cy="150621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1900年，开尔文勋爵在演讲中指出，物理学的晴朗天空中仅存“两朵乌云”。这两朵乌云分别指：迈克尔逊-莫雷实验对“以太”理论的否定，以及黑体辐射理论与实验的严重偏离。</a:t>
                </a:r>
                <a:endParaRPr lang="en-US" sz="110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59291" y="2890544"/>
                <a:ext cx="3262868" cy="6728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开尔文的著名演讲</a:t>
                </a:r>
                <a:endParaRPr lang="en-US" sz="1100" dirty="0"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4968697" y="2538414"/>
                <a:ext cx="236120" cy="236118"/>
              </a:xfrm>
              <a:prstGeom prst="ellipse">
                <a:avLst/>
              </a:prstGeom>
              <a:ln w="12700">
                <a:solidFill>
                  <a:srgbClr val="000000">
                    <a:alpha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255508" y="2538414"/>
              <a:ext cx="3267360" cy="3228954"/>
              <a:chOff x="6244165" y="2538414"/>
              <a:chExt cx="3267360" cy="3228954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244165" y="5182368"/>
                <a:ext cx="3262867" cy="585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44689" y="3563423"/>
                <a:ext cx="3262868" cy="150621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历史证明，这两朵乌云并非微小瑕疵，而是预示着物理学革命的风暴。第一朵乌云催生了相对论，而第二朵乌云，将直接引出我们今天要探讨的主角——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量子力学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48657" y="2890544"/>
                <a:ext cx="3262868" cy="6728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b" anchorCtr="1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危机的预示</a:t>
                </a:r>
                <a:endParaRPr lang="en-US" sz="1100"/>
              </a:p>
            </p:txBody>
          </p:sp>
          <p:sp>
            <p:nvSpPr>
              <p:cNvPr id="21" name="AutoShape 21"/>
              <p:cNvSpPr/>
              <p:nvPr/>
            </p:nvSpPr>
            <p:spPr>
              <a:xfrm>
                <a:off x="7758063" y="2538414"/>
                <a:ext cx="236120" cy="236118"/>
              </a:xfrm>
              <a:prstGeom prst="ellipse">
                <a:avLst/>
              </a:prstGeom>
              <a:ln w="12700">
                <a:solidFill>
                  <a:srgbClr val="000000">
                    <a:alpha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</a:t>
            </a:r>
            <a:r>
              <a:rPr lang="en-US" sz="2800" b="1" i="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黄金时代与乌云</a:t>
            </a:r>
            <a:r>
              <a:rPr lang="en-US" sz="28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b479d9d-b300-4bc8-bafd-35ec539ca79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71006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60400" y="2236787"/>
              <a:ext cx="10858500" cy="4621213"/>
            </a:xfrm>
            <a:prstGeom prst="rect">
              <a:avLst/>
            </a:prstGeom>
            <a:solidFill>
              <a:srgbClr val="222222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990600" y="2514600"/>
              <a:ext cx="10254798" cy="3733800"/>
            </a:xfrm>
            <a:prstGeom prst="rect">
              <a:avLst/>
            </a:prstGeom>
            <a:solidFill>
              <a:srgbClr val="FFFFFF">
                <a:alpha val="89803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0400" y="1130300"/>
              <a:ext cx="10858500" cy="93027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[一个无法回避的实验事实]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64977" y="3401897"/>
              <a:ext cx="9820523" cy="2556776"/>
              <a:chOff x="1164977" y="2708477"/>
              <a:chExt cx="9820523" cy="2556776"/>
            </a:xfrm>
          </p:grpSpPr>
          <p:grpSp>
            <p:nvGrpSpPr>
              <p:cNvPr id="8" name="Group 8"/>
              <p:cNvGrpSpPr/>
              <p:nvPr/>
            </p:nvGrpSpPr>
            <p:grpSpPr>
              <a:xfrm>
                <a:off x="1164977" y="2708477"/>
                <a:ext cx="3013323" cy="2556776"/>
                <a:chOff x="1164977" y="2708477"/>
                <a:chExt cx="3013323" cy="2556776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1652135" y="3389106"/>
                  <a:ext cx="2526165" cy="187614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黑体辐射是指一个理想吸收体在热平衡状态下发出的电磁辐射。生活中，加热铁块时颜色从暗红到白热的变化，就是黑体辐射随温度升高的直观体现。</a:t>
                  </a:r>
                  <a:endParaRPr lang="en-US" sz="1100" dirty="0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652135" y="2708477"/>
                  <a:ext cx="2526165" cy="68063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b" anchorCtr="0"/>
                <a:lstStyle/>
                <a:p>
                  <a:pPr algn="l">
                    <a:spcBef>
                      <a:spcPts val="0"/>
                    </a:spcBef>
                    <a:defRPr/>
                  </a:pPr>
                  <a:r>
                    <a:rPr lang="en-US" sz="1800" b="1" i="0" dirty="0" err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什么是黑体辐射</a:t>
                  </a:r>
                  <a:endParaRPr lang="en-US" sz="1100" dirty="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1164977" y="2935493"/>
                  <a:ext cx="453614" cy="453614"/>
                </a:xfrm>
                <a:prstGeom prst="rect">
                  <a:avLst/>
                </a:prstGeom>
                <a:solidFill>
                  <a:srgbClr val="271006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0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1</a:t>
                  </a:r>
                  <a:endParaRPr lang="en-US" sz="1100"/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4564608" y="2708477"/>
                <a:ext cx="3017292" cy="2556776"/>
                <a:chOff x="4564608" y="2708477"/>
                <a:chExt cx="3017292" cy="2556776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5055735" y="3389106"/>
                  <a:ext cx="2526165" cy="187614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物理学家试图用经典理论推导黑体辐射的能量分布公式，但都以失败告终。瑞利-金斯公式在低频区与实验吻合，但在高频区却预言能量密度趋于无穷大。</a:t>
                  </a:r>
                  <a:endParaRPr lang="en-US" sz="1100" dirty="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5055735" y="2708477"/>
                  <a:ext cx="2526165" cy="68063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b" anchorCtr="0"/>
                <a:lstStyle/>
                <a:p>
                  <a:pPr algn="l">
                    <a:spcBef>
                      <a:spcPts val="0"/>
                    </a:spcBef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经典理论的失败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4564608" y="2935493"/>
                  <a:ext cx="453614" cy="453614"/>
                </a:xfrm>
                <a:prstGeom prst="rect">
                  <a:avLst/>
                </a:prstGeom>
                <a:solidFill>
                  <a:srgbClr val="271006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0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  <a:endParaRPr lang="en-US" sz="1100"/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7965827" y="2708477"/>
                <a:ext cx="3019673" cy="2556776"/>
                <a:chOff x="7965827" y="2708477"/>
                <a:chExt cx="3019673" cy="2556776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8459335" y="3389106"/>
                  <a:ext cx="2526165" cy="187614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随着频率增高，理论预言的能量无限增大，这与实验观测到的能量分布存在显著偏差。这一荒谬结果被称为“紫外灾难”，它清晰地表明经典理论在微观领域失效了。</a:t>
                  </a:r>
                  <a:endParaRPr lang="en-US" sz="1100" dirty="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8459335" y="2708477"/>
                  <a:ext cx="2526165" cy="68063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0000" tIns="46800" rIns="90000" bIns="46800" rtlCol="0" anchor="b" anchorCtr="0"/>
                <a:lstStyle/>
                <a:p>
                  <a:pPr algn="l">
                    <a:spcBef>
                      <a:spcPts val="0"/>
                    </a:spcBef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紫外灾难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965827" y="2935493"/>
                  <a:ext cx="453614" cy="453614"/>
                </a:xfrm>
                <a:prstGeom prst="rect">
                  <a:avLst/>
                </a:prstGeom>
                <a:solidFill>
                  <a:srgbClr val="271006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0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  <a:endParaRPr lang="en-US" sz="1100"/>
                </a:p>
              </p:txBody>
            </p:sp>
          </p:grp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[黑体辐射与灾难]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51dcb7d-cabd-4d16-9b54-1bb9ab74bcb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>
              <a:off x="935564" y="3385463"/>
              <a:ext cx="10583335" cy="0"/>
            </a:xfrm>
            <a:prstGeom prst="line">
              <a:avLst/>
            </a:prstGeom>
            <a:ln w="6350">
              <a:solidFill>
                <a:srgbClr val="000000">
                  <a:alpha val="4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804006" y="3295463"/>
              <a:ext cx="180000" cy="180000"/>
            </a:xfrm>
            <a:prstGeom prst="ellipse">
              <a:avLst/>
            </a:prstGeom>
            <a:solidFill>
              <a:srgbClr val="271006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8279333" y="3295463"/>
              <a:ext cx="180000" cy="180000"/>
            </a:xfrm>
            <a:prstGeom prst="ellipse">
              <a:avLst/>
            </a:prstGeom>
            <a:solidFill>
              <a:srgbClr val="271006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0400" y="1130300"/>
              <a:ext cx="10858500" cy="1086765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108000" tIns="108000" rIns="108000" bIns="10800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[一个不情愿的革命者]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660400" y="2667003"/>
              <a:ext cx="3379120" cy="3467097"/>
              <a:chOff x="660400" y="2667003"/>
              <a:chExt cx="2534514" cy="3467097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660401" y="2667003"/>
                <a:ext cx="2534513" cy="4934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2000" b="1" i="0">
                    <a:ln/>
                    <a:solidFill>
                      <a:srgbClr val="271006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1" y="3610432"/>
                <a:ext cx="2534511" cy="6749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能量的量子化</a:t>
                </a:r>
                <a:endParaRPr lang="en-US" sz="1100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4316114"/>
                <a:ext cx="2534513" cy="18179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为了解决紫外灾难，德国物理学家马克斯·普朗克于1900年提出，黑体中的谐振子能量不是连续的，只能是某一最小能量单位的整数倍。这个最小单位与频率成正比，比例常数就是普朗克常数。</a:t>
                </a:r>
                <a:endParaRPr lang="en-US" sz="1100" dirty="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4400090" y="2667003"/>
              <a:ext cx="3379120" cy="3467097"/>
              <a:chOff x="3435062" y="2667003"/>
              <a:chExt cx="3379120" cy="3467097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3571262" y="3295463"/>
                <a:ext cx="180000" cy="180000"/>
              </a:xfrm>
              <a:prstGeom prst="ellipse">
                <a:avLst/>
              </a:prstGeom>
              <a:solidFill>
                <a:srgbClr val="27100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" name="Group 13"/>
              <p:cNvGrpSpPr/>
              <p:nvPr/>
            </p:nvGrpSpPr>
            <p:grpSpPr>
              <a:xfrm>
                <a:off x="3435062" y="2667003"/>
                <a:ext cx="3379120" cy="3467097"/>
                <a:chOff x="3435062" y="2667003"/>
                <a:chExt cx="2534514" cy="3467097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3435063" y="2667003"/>
                  <a:ext cx="2534513" cy="4934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t" anchorCtr="0"/>
                <a:lstStyle/>
                <a:p>
                  <a:pPr algn="l">
                    <a:defRPr/>
                  </a:pPr>
                  <a:r>
                    <a:rPr lang="en-US" sz="2000" b="1" i="0">
                      <a:ln/>
                      <a:solidFill>
                        <a:srgbClr val="271006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3435063" y="3610432"/>
                  <a:ext cx="2534511" cy="6749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量子理论的诞生日</a:t>
                  </a:r>
                  <a:endParaRPr lang="en-US" sz="11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3435062" y="4316114"/>
                  <a:ext cx="2534513" cy="18179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1900年12月14日，普朗克在柏林物理学会报告了这一结果，这一天被公认为量子理论的诞生日。他的公式完美拟合了实验数据，但其物理意义当时无人能解。</a:t>
                  </a:r>
                  <a:endParaRPr lang="en-US" sz="1100" dirty="0"/>
                </a:p>
              </p:txBody>
            </p:sp>
          </p:grpSp>
        </p:grpSp>
        <p:grpSp>
          <p:nvGrpSpPr>
            <p:cNvPr id="17" name="Group 17"/>
            <p:cNvGrpSpPr/>
            <p:nvPr/>
          </p:nvGrpSpPr>
          <p:grpSpPr>
            <a:xfrm>
              <a:off x="8139780" y="2667003"/>
              <a:ext cx="3379120" cy="3467097"/>
              <a:chOff x="6209723" y="2667003"/>
              <a:chExt cx="2534514" cy="346709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209724" y="2667003"/>
                <a:ext cx="2534513" cy="4934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2000" b="1" i="0">
                    <a:ln/>
                    <a:solidFill>
                      <a:srgbClr val="271006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09724" y="3610432"/>
                <a:ext cx="2534511" cy="6749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一个保守的开端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09723" y="4316114"/>
                <a:ext cx="2534513" cy="18179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普朗克本人并未意识到其假设的革命性，他将能量量子化视为一种数学技巧，并在之后多年试图将其纳入经典理论框架，但历史的洪流已无法阻挡。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[普朗克的量子假设]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bec7c30-da20-4373-8a54-6a7da59c4fbb"/>
          <p:cNvGrpSpPr/>
          <p:nvPr/>
        </p:nvGrpSpPr>
        <p:grpSpPr>
          <a:xfrm>
            <a:off x="1229650" y="1130300"/>
            <a:ext cx="9720000" cy="5003800"/>
            <a:chOff x="1229650" y="1130300"/>
            <a:chExt cx="9720000" cy="5003800"/>
          </a:xfrm>
        </p:grpSpPr>
        <p:sp>
          <p:nvSpPr>
            <p:cNvPr id="3" name="AutoShape 3"/>
            <p:cNvSpPr/>
            <p:nvPr/>
          </p:nvSpPr>
          <p:spPr>
            <a:xfrm>
              <a:off x="1229650" y="1130300"/>
              <a:ext cx="9720000" cy="1008000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77950" y="1184300"/>
              <a:ext cx="9423400" cy="9000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[从能量交换到光的本质]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1229650" y="2525824"/>
              <a:ext cx="9720000" cy="879823"/>
              <a:chOff x="1906307" y="2053636"/>
              <a:chExt cx="9720000" cy="82800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906307" y="2179636"/>
                <a:ext cx="612000" cy="576000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651074" y="2053636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光电效应的实验规律是经典波动理论无法解释的：存在截止频率，光电子动能只与频率有关，与光强无关。这些现象都指向了一个结论：光的能量传递是“一份一份”的。</a:t>
                </a:r>
                <a:endParaRPr lang="en-US" sz="11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626494" y="2053636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光电效应的挑战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229650" y="3793171"/>
              <a:ext cx="9720000" cy="879823"/>
              <a:chOff x="1906307" y="3057001"/>
              <a:chExt cx="9720000" cy="82800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906307" y="3183001"/>
                <a:ext cx="612000" cy="576000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651074" y="3057001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1905年，爱因斯坦提出，光本身是由不连续的能量包组成的，即“光量子”（后称光子）。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每个光子的能量E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=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hν，由光的频率ν唯一确定。这一假说为光电效应提供了简洁的解释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626494" y="3057001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光量子假说</a:t>
                </a:r>
                <a:endParaRPr lang="en-US" sz="1100" dirty="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229650" y="5060518"/>
              <a:ext cx="9720000" cy="879823"/>
              <a:chOff x="1906307" y="4060366"/>
              <a:chExt cx="9720000" cy="82800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906307" y="4186366"/>
                <a:ext cx="612000" cy="576000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651074" y="4060366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光量子假说直接挑战了麦克斯韦的波动理论，因此在当时遭到广泛质疑。直到1916年密立根的精密实验验证了爱因斯坦方程，光量子假说才被普遍接受。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626494" y="4060366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艰难的接受过程</a:t>
                </a:r>
                <a:endParaRPr lang="en-US" sz="1100"/>
              </a:p>
            </p:txBody>
          </p:sp>
        </p:grpSp>
        <p:sp>
          <p:nvSpPr>
            <p:cNvPr id="17" name="AutoShape 17"/>
            <p:cNvSpPr/>
            <p:nvPr/>
          </p:nvSpPr>
          <p:spPr>
            <a:xfrm>
              <a:off x="1229650" y="2332062"/>
              <a:ext cx="97200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229650" y="3599409"/>
              <a:ext cx="97200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229650" y="4866756"/>
              <a:ext cx="97200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229650" y="6134100"/>
              <a:ext cx="97200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[爱因斯坦的光量子]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dd6fdff-66cd-495a-96d6-a4fd6a7a83c6"/>
          <p:cNvGrpSpPr/>
          <p:nvPr/>
        </p:nvGrpSpPr>
        <p:grpSpPr>
          <a:xfrm>
            <a:off x="660399" y="1130300"/>
            <a:ext cx="10858501" cy="5727700"/>
            <a:chOff x="660399" y="1130300"/>
            <a:chExt cx="10858501" cy="5727700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0"/>
              <a:ext cx="10858501" cy="84001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[卢瑟福模型的致命缺陷]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399" y="2796796"/>
              <a:ext cx="4937911" cy="3337305"/>
              <a:chOff x="5791200" y="543560"/>
              <a:chExt cx="2824480" cy="3337305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791200" y="1172635"/>
                <a:ext cx="2824480" cy="68314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行星模型的困境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5791200" y="1855777"/>
                <a:ext cx="2824480" cy="20250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1911年，卢瑟福通过α粒子散射实验确立了原子的核式结构，即“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行星模型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”。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但根据麦克斯韦理论，绕核运动的电子会因辐射能量而在极短时间内坠入原子核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791200" y="543560"/>
                <a:ext cx="604191" cy="6290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8" name="AutoShape 8"/>
            <p:cNvSpPr/>
            <p:nvPr/>
          </p:nvSpPr>
          <p:spPr>
            <a:xfrm>
              <a:off x="6010729" y="2419109"/>
              <a:ext cx="5508171" cy="4438891"/>
            </a:xfrm>
            <a:custGeom>
              <a:avLst/>
              <a:gdLst/>
              <a:ahLst/>
              <a:cxnLst/>
              <a:rect l="l" t="t" r="r" b="b"/>
              <a:pathLst>
                <a:path w="5508171" h="4438891">
                  <a:moveTo>
                    <a:pt x="433680" y="0"/>
                  </a:moveTo>
                  <a:lnTo>
                    <a:pt x="5074491" y="0"/>
                  </a:lnTo>
                  <a:cubicBezTo>
                    <a:pt x="5314006" y="0"/>
                    <a:pt x="5508171" y="194165"/>
                    <a:pt x="5508171" y="433680"/>
                  </a:cubicBezTo>
                  <a:lnTo>
                    <a:pt x="5508171" y="4438891"/>
                  </a:lnTo>
                  <a:lnTo>
                    <a:pt x="0" y="4438891"/>
                  </a:lnTo>
                  <a:lnTo>
                    <a:pt x="0" y="433680"/>
                  </a:lnTo>
                  <a:cubicBezTo>
                    <a:pt x="0" y="194165"/>
                    <a:pt x="194165" y="0"/>
                    <a:pt x="43368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6295863" y="2796796"/>
              <a:ext cx="4937910" cy="3337305"/>
              <a:chOff x="5829616" y="543560"/>
              <a:chExt cx="2101041" cy="333730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829616" y="1172635"/>
                <a:ext cx="2101041" cy="68314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物质世界的悖论</a:t>
                </a:r>
                <a:endParaRPr lang="en-US" sz="11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829616" y="1855777"/>
                <a:ext cx="2101041" cy="202508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这一推论与事实严重不符，我们所见的物质世界是稳定的。经典物理学在解释原子内部结构时，遭遇了原则性的困难，这成为推动量子理论发展的又一强大动力。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829616" y="543560"/>
                <a:ext cx="604191" cy="6290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</a:t>
            </a:r>
            <a:r>
              <a:rPr lang="en-US" sz="2800" b="1" i="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原子稳定性的危机</a:t>
            </a:r>
            <a:r>
              <a:rPr lang="en-US" sz="2800" b="1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8759a7f-0abd-4e9d-8ac0-5bc5ea77bbd8"/>
          <p:cNvGrpSpPr/>
          <p:nvPr/>
        </p:nvGrpSpPr>
        <p:grpSpPr>
          <a:xfrm>
            <a:off x="660400" y="1130300"/>
            <a:ext cx="10858500" cy="4154828"/>
            <a:chOff x="660400" y="1130300"/>
            <a:chExt cx="10858500" cy="4154828"/>
          </a:xfrm>
        </p:grpSpPr>
        <p:grpSp>
          <p:nvGrpSpPr>
            <p:cNvPr id="3" name="Group 3"/>
            <p:cNvGrpSpPr/>
            <p:nvPr/>
          </p:nvGrpSpPr>
          <p:grpSpPr>
            <a:xfrm>
              <a:off x="673100" y="2372812"/>
              <a:ext cx="3458593" cy="2912316"/>
              <a:chOff x="673100" y="2700020"/>
              <a:chExt cx="3458593" cy="1864359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73100" y="2700020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803918" y="2867659"/>
                <a:ext cx="2449827" cy="41783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6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三条革命性假设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3918" y="3285497"/>
                <a:ext cx="2449827" cy="9486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0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1913年，尼尔斯·玻尔提出三条非经典假设：1. 定态假设：电子在特定轨道上不辐射能量。2. 跃迁规则：电子跃迁时吸收或发射光子，能量等于能级差。3. </a:t>
                </a:r>
                <a:r>
                  <a:rPr lang="en-US" sz="10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量子化条件：轨道角动量是量子化的</a:t>
                </a:r>
                <a:r>
                  <a:rPr lang="en-US" sz="10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328953" y="3828068"/>
                <a:ext cx="802740" cy="5470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AutoShape 8"/>
              <p:cNvSpPr/>
              <p:nvPr/>
            </p:nvSpPr>
            <p:spPr>
              <a:xfrm>
                <a:off x="3328953" y="4375160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366703" y="2372812"/>
              <a:ext cx="3458593" cy="2912316"/>
              <a:chOff x="4366703" y="2700020"/>
              <a:chExt cx="3458593" cy="1864359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4366703" y="2700020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4497521" y="2867659"/>
                <a:ext cx="3327775" cy="1507501"/>
                <a:chOff x="4497521" y="2331720"/>
                <a:chExt cx="3327775" cy="1507501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4497521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氢原子光谱的成功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4497521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 dirty="0" err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基于以上假设，玻尔成功推导出氢原子的能级公式，精确预言了氢原子光谱的谱线位置，为量子理论提供了重要的思想框架</a:t>
                  </a:r>
                  <a:r>
                    <a:rPr lang="en-US" sz="10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。</a:t>
                  </a:r>
                  <a:endParaRPr lang="en-US" sz="1100" dirty="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022556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5" name="AutoShape 15"/>
              <p:cNvSpPr/>
              <p:nvPr/>
            </p:nvSpPr>
            <p:spPr>
              <a:xfrm>
                <a:off x="7022556" y="4375160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060306" y="2372812"/>
              <a:ext cx="3458593" cy="2912316"/>
              <a:chOff x="8060306" y="2164081"/>
              <a:chExt cx="3458593" cy="1864359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8060306" y="216408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8191124" y="2331720"/>
                <a:ext cx="3327775" cy="1507501"/>
                <a:chOff x="8191124" y="2331720"/>
                <a:chExt cx="3327775" cy="1507501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8191124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旧量子论的局限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191124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 dirty="0" err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然而，玻尔模型混合了经典与量子概念，并非自洽理论，且仅适用于单电子体系。它的成功与局限，预示着更深刻的理论革命即将到来</a:t>
                  </a:r>
                  <a:r>
                    <a:rPr lang="en-US" sz="1000" b="0" i="0" dirty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。</a:t>
                  </a:r>
                  <a:endParaRPr lang="en-US" sz="1100" dirty="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0716159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2" name="AutoShape 22"/>
              <p:cNvSpPr/>
              <p:nvPr/>
            </p:nvSpPr>
            <p:spPr>
              <a:xfrm>
                <a:off x="10716159" y="3839221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 flipH="1">
              <a:off x="660400" y="1130300"/>
              <a:ext cx="10858500" cy="84456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[定态、跃迁与量子化]</a:t>
              </a:r>
              <a:endParaRPr lang="en-US" sz="11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[玻尔的氢原子模型]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15c153a-e7ae-4207-bdcf-9f08e0ca2d4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9491108" cy="53965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[电子是否也是波？]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169288" y="1728361"/>
              <a:ext cx="5349612" cy="2143552"/>
              <a:chOff x="6169288" y="1728361"/>
              <a:chExt cx="5349612" cy="2143552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378736" y="1728361"/>
                <a:ext cx="5140164" cy="2143552"/>
              </a:xfrm>
              <a:prstGeom prst="roundRect">
                <a:avLst>
                  <a:gd name="adj" fmla="val 2271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620932" y="1784953"/>
                <a:ext cx="4818856" cy="428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波粒二象性的推广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20931" y="2213232"/>
                <a:ext cx="4818857" cy="159200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20世纪20年代，光的波粒二象性已成共识。1924年，法国物理学家路易·德布罗意提出大胆猜想：如果光具有波粒二象性，那么电子等实物粒子是否也具有波动性？</a:t>
                </a:r>
                <a:endParaRPr lang="en-US" sz="11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169288" y="1789197"/>
                <a:ext cx="421200" cy="419790"/>
              </a:xfrm>
              <a:prstGeom prst="ellipse">
                <a:avLst/>
              </a:prstGeom>
              <a:solidFill>
                <a:srgbClr val="27100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60400" y="1728361"/>
              <a:ext cx="5349612" cy="2143552"/>
              <a:chOff x="660400" y="1728361"/>
              <a:chExt cx="5349612" cy="2143552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869848" y="1728361"/>
                <a:ext cx="5140164" cy="2143552"/>
              </a:xfrm>
              <a:prstGeom prst="roundRect">
                <a:avLst>
                  <a:gd name="adj" fmla="val 2271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12044" y="1784953"/>
                <a:ext cx="4818856" cy="428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物质波的波长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12043" y="2213232"/>
                <a:ext cx="4818857" cy="159200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他给出了物质波的波长λ=h/p，即波长与粒子动量p成反比。这一假说将波粒二象性推广至所有微观粒子。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60400" y="1789197"/>
                <a:ext cx="421200" cy="419790"/>
              </a:xfrm>
              <a:prstGeom prst="ellipse">
                <a:avLst/>
              </a:prstGeom>
              <a:solidFill>
                <a:srgbClr val="27100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60400" y="3990548"/>
              <a:ext cx="10858500" cy="2143552"/>
              <a:chOff x="660400" y="3990548"/>
              <a:chExt cx="10858500" cy="2143552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869848" y="3990548"/>
                <a:ext cx="10649052" cy="2143552"/>
              </a:xfrm>
              <a:prstGeom prst="roundRect">
                <a:avLst>
                  <a:gd name="adj" fmla="val 2271"/>
                </a:avLst>
              </a:prstGeom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12044" y="4047140"/>
                <a:ext cx="10327744" cy="42827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驻波解释量子化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12043" y="4475419"/>
                <a:ext cx="10327745" cy="159200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德布罗意进一步指出，玻尔模型中的量子化轨道，可以理解为电子波在原子核周围形成的驻波。这一观点为玻尔的假设提供了物理图像支持，并于1927年被电子衍射实验证实。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0400" y="4051384"/>
                <a:ext cx="421200" cy="419790"/>
              </a:xfrm>
              <a:prstGeom prst="ellipse">
                <a:avLst/>
              </a:prstGeom>
              <a:solidFill>
                <a:srgbClr val="27100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2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[德布罗意物质波]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c388c66-cc42-4cea-ae8d-e4b4fe9a4bd1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3" name="Group 3"/>
            <p:cNvGrpSpPr/>
            <p:nvPr/>
          </p:nvGrpSpPr>
          <p:grpSpPr>
            <a:xfrm>
              <a:off x="660399" y="1782553"/>
              <a:ext cx="10858500" cy="1408323"/>
              <a:chOff x="660399" y="1782553"/>
              <a:chExt cx="10858500" cy="1408323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271006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只讨论可观测的量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1925年，年仅23岁的海森堡决定放弃旧量子论的半经典框架。他认为，物理学理论应只包含可观测量，而电子轨道本身是不可观测的。</a:t>
                </a:r>
                <a:endParaRPr lang="en-US" sz="1100" dirty="0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[放弃不可观测的轨道]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660399" y="3254165"/>
              <a:ext cx="10858500" cy="1408323"/>
              <a:chOff x="660399" y="1782553"/>
              <a:chExt cx="10858500" cy="1408323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271006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构建新的数学体系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海森堡构造了一套以可观测量（如谱线频率、强度）为元素的数学体系。他的导师玻恩识别出这些数学对象就是矩阵。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60399" y="4725777"/>
              <a:ext cx="10858500" cy="1408323"/>
              <a:chOff x="660399" y="1782553"/>
              <a:chExt cx="10858500" cy="1408323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660399" y="1782553"/>
                <a:ext cx="10858500" cy="1408323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271006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矩阵力学的诞生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03982" y="2251076"/>
                <a:ext cx="9975218" cy="8604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在此基础上，海森堡、玻恩与约当共同发展出矩阵力学。其核心是对易关系，揭示了物理量（如位置与动量）之间不可交换的代数性质，标志着量子理论进入严格理论体系阶段。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[海森堡矩阵力学]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e4c110d-b764-454b-9018-a5263d72a717"/>
          <p:cNvGrpSpPr/>
          <p:nvPr/>
        </p:nvGrpSpPr>
        <p:grpSpPr>
          <a:xfrm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[用波动方程描述物质波]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4378325" y="1695450"/>
              <a:ext cx="3422650" cy="14605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0400" y="2082800"/>
              <a:ext cx="10858500" cy="171196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60400" y="2428261"/>
              <a:ext cx="3338672" cy="3705839"/>
              <a:chOff x="185578" y="2428261"/>
              <a:chExt cx="3338672" cy="370583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薛定谔方程的提出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1926年，奥地利物理学家薛定谔受到德布罗意物质波概念的启发，提出量子力学的另一种数学形式——波动力学。他认为，电子是一种波，应存在一个描述其演化的波动方程。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420314" y="2428261"/>
              <a:ext cx="3338672" cy="3705839"/>
              <a:chOff x="185578" y="2428261"/>
              <a:chExt cx="3338672" cy="370583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氢原子问题的求解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薛定谔将他的方程应用于氢原子问题。与玻尔模型不同，量子化能级作为方程的本征值自然地涌现出来，无需人为引入量子化条件。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180228" y="2428261"/>
              <a:ext cx="3338672" cy="3705839"/>
              <a:chOff x="185578" y="2428261"/>
              <a:chExt cx="3338672" cy="370583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等价性与广泛接受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薛定谔证明，波动力学与矩阵力学在数学上是完全等价的。由于波动力学使用物理学家更熟悉的偏微分方程语言，它迅速被广泛接受，成为量子力学的主要工具。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[薛定谔波动力学]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d8d64fe-68b9-4bbc-81be-21a1639f72e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57150"/>
            </a:xfrm>
            <a:custGeom>
              <a:avLst/>
              <a:gdLst/>
              <a:ahLst/>
              <a:cxnLst/>
              <a:rect l="l" t="t" r="r" b="b"/>
              <a:pathLst>
                <a:path w="12192000" h="128588">
                  <a:moveTo>
                    <a:pt x="0" y="0"/>
                  </a:moveTo>
                  <a:lnTo>
                    <a:pt x="12192000" y="0"/>
                  </a:lnTo>
                  <a:lnTo>
                    <a:pt x="12192000" y="128588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6680200"/>
              <a:ext cx="12192000" cy="177800"/>
            </a:xfrm>
            <a:custGeom>
              <a:avLst/>
              <a:gdLst/>
              <a:ahLst/>
              <a:cxnLst/>
              <a:rect l="l" t="t" r="r" b="b"/>
              <a:pathLst>
                <a:path w="12192000" h="207638">
                  <a:moveTo>
                    <a:pt x="0" y="0"/>
                  </a:moveTo>
                  <a:lnTo>
                    <a:pt x="12192000" y="0"/>
                  </a:lnTo>
                  <a:lnTo>
                    <a:pt x="12192000" y="207638"/>
                  </a:lnTo>
                  <a:lnTo>
                    <a:pt x="0" y="2076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0" y="6607435"/>
              <a:ext cx="12192000" cy="28388"/>
            </a:xfrm>
            <a:custGeom>
              <a:avLst/>
              <a:gdLst/>
              <a:ahLst/>
              <a:cxnLst/>
              <a:rect l="l" t="t" r="r" b="b"/>
              <a:pathLst>
                <a:path w="12192000" h="128588">
                  <a:moveTo>
                    <a:pt x="0" y="0"/>
                  </a:moveTo>
                  <a:lnTo>
                    <a:pt x="12192000" y="0"/>
                  </a:lnTo>
                  <a:lnTo>
                    <a:pt x="12192000" y="128588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rgbClr val="000000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0" y="6534671"/>
              <a:ext cx="12192000" cy="28388"/>
            </a:xfrm>
            <a:custGeom>
              <a:avLst/>
              <a:gdLst/>
              <a:ahLst/>
              <a:cxnLst/>
              <a:rect l="l" t="t" r="r" b="b"/>
              <a:pathLst>
                <a:path w="12192000" h="128588">
                  <a:moveTo>
                    <a:pt x="0" y="0"/>
                  </a:moveTo>
                  <a:lnTo>
                    <a:pt x="12192000" y="0"/>
                  </a:lnTo>
                  <a:lnTo>
                    <a:pt x="12192000" y="128588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rgbClr val="000000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6461907"/>
              <a:ext cx="12192000" cy="28388"/>
            </a:xfrm>
            <a:custGeom>
              <a:avLst/>
              <a:gdLst/>
              <a:ahLst/>
              <a:cxnLst/>
              <a:rect l="l" t="t" r="r" b="b"/>
              <a:pathLst>
                <a:path w="12192000" h="128588">
                  <a:moveTo>
                    <a:pt x="0" y="0"/>
                  </a:moveTo>
                  <a:lnTo>
                    <a:pt x="12192000" y="0"/>
                  </a:lnTo>
                  <a:lnTo>
                    <a:pt x="12192000" y="128588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rgbClr val="000000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0400" y="1130300"/>
              <a:ext cx="10858500" cy="1037165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[量子力学的物理意义]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3290044"/>
              <a:ext cx="121920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211846" y="2517459"/>
              <a:ext cx="2892705" cy="3616641"/>
              <a:chOff x="660400" y="2517459"/>
              <a:chExt cx="2892705" cy="361664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49299" y="3524994"/>
                <a:ext cx="2803806" cy="7778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波函数的概率诠释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9299" y="4302867"/>
                <a:ext cx="2803806" cy="18312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薛定谔方程的成功并未解决其解的物理意义问题。1927年，马克斯·玻恩提出，波函数的模平方表示在空间某点找到粒子的概率密度。量子力学只给出概率，而非确定性预言。</a:t>
                </a:r>
                <a:endParaRPr lang="en-US" sz="1100"/>
              </a:p>
            </p:txBody>
          </p:sp>
          <p:sp>
            <p:nvSpPr>
              <p:cNvPr id="13" name="AutoShape 13"/>
              <p:cNvSpPr/>
              <p:nvPr/>
            </p:nvSpPr>
            <p:spPr>
              <a:xfrm>
                <a:off x="660400" y="3290044"/>
                <a:ext cx="0" cy="996950"/>
              </a:xfrm>
              <a:prstGeom prst="line">
                <a:avLst/>
              </a:prstGeom>
              <a:ln w="127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93000">
                      <a:srgbClr val="000000">
                        <a:alpha val="0"/>
                      </a:srgbClr>
                    </a:gs>
                  </a:gsLst>
                  <a:lin ang="5400000"/>
                </a:gra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9300" y="2517459"/>
                <a:ext cx="1371600" cy="536575"/>
              </a:xfrm>
              <a:prstGeom prst="roundRect">
                <a:avLst>
                  <a:gd name="adj" fmla="val 50000"/>
                </a:avLst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4643298" y="2517459"/>
              <a:ext cx="2892705" cy="3616641"/>
              <a:chOff x="3462867" y="2517459"/>
              <a:chExt cx="2892705" cy="361664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3551766" y="3524994"/>
                <a:ext cx="2803806" cy="7778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海森堡不确定性原理</a:t>
                </a:r>
                <a:endParaRPr lang="en-US" sz="110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551766" y="4302867"/>
                <a:ext cx="2803806" cy="18312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同年，海森堡提出不确定性原理：粒子的位置与动量无法同时被精确测定。这一限制是微观世界的基本属性，而非测量精度问题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3462867" y="3290044"/>
                <a:ext cx="0" cy="996950"/>
              </a:xfrm>
              <a:prstGeom prst="line">
                <a:avLst/>
              </a:prstGeom>
              <a:ln w="127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93000">
                      <a:srgbClr val="000000">
                        <a:alpha val="0"/>
                      </a:srgbClr>
                    </a:gs>
                  </a:gsLst>
                  <a:lin ang="5400000"/>
                </a:gra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551767" y="2517459"/>
                <a:ext cx="1371600" cy="536575"/>
              </a:xfrm>
              <a:prstGeom prst="roundRect">
                <a:avLst>
                  <a:gd name="adj" fmla="val 50000"/>
                </a:avLst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074748" y="2517459"/>
              <a:ext cx="2892705" cy="3616641"/>
              <a:chOff x="6265334" y="2517459"/>
              <a:chExt cx="2892705" cy="3616641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354233" y="3524994"/>
                <a:ext cx="2803806" cy="7778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诠释的形成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354233" y="4302867"/>
                <a:ext cx="2803806" cy="18312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玻恩的概率诠释、海森堡的不确定性原理，以及玻尔的互补原理，共同构成了量子力学的“哥本哈根诠释”，至今仍是该领域最广为接受的理解框架。</a:t>
                </a:r>
                <a:endParaRPr lang="en-US" sz="1100"/>
              </a:p>
            </p:txBody>
          </p:sp>
          <p:sp>
            <p:nvSpPr>
              <p:cNvPr id="23" name="AutoShape 23"/>
              <p:cNvSpPr/>
              <p:nvPr/>
            </p:nvSpPr>
            <p:spPr>
              <a:xfrm>
                <a:off x="6265334" y="3290044"/>
                <a:ext cx="0" cy="996950"/>
              </a:xfrm>
              <a:prstGeom prst="line">
                <a:avLst/>
              </a:prstGeom>
              <a:ln w="127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93000">
                      <a:srgbClr val="000000">
                        <a:alpha val="0"/>
                      </a:srgbClr>
                    </a:gs>
                  </a:gsLst>
                  <a:lin ang="5400000"/>
                </a:gra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54234" y="2517459"/>
                <a:ext cx="1371600" cy="536575"/>
              </a:xfrm>
              <a:prstGeom prst="roundRect">
                <a:avLst>
                  <a:gd name="adj" fmla="val 50000"/>
                </a:avLst>
              </a:pr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[哥本哈根诠释]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d71148b-8a8b-4a3d-add6-815812ddb449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AutoShape 3"/>
            <p:cNvSpPr/>
            <p:nvPr/>
          </p:nvSpPr>
          <p:spPr>
            <a:xfrm>
              <a:off x="0" y="6642000"/>
              <a:ext cx="12192000" cy="216000"/>
            </a:xfrm>
            <a:custGeom>
              <a:avLst/>
              <a:gdLst/>
              <a:ahLst/>
              <a:cxnLst/>
              <a:rect l="l" t="t" r="r" b="b"/>
              <a:pathLst>
                <a:path w="12192000" h="165100">
                  <a:moveTo>
                    <a:pt x="0" y="0"/>
                  </a:moveTo>
                  <a:lnTo>
                    <a:pt x="12192000" y="0"/>
                  </a:lnTo>
                  <a:lnTo>
                    <a:pt x="12192000" y="165100"/>
                  </a:lnTo>
                  <a:lnTo>
                    <a:pt x="0" y="165100"/>
                  </a:lnTo>
                  <a:close/>
                </a:path>
              </a:pathLst>
            </a:custGeom>
            <a:solidFill>
              <a:srgbClr val="271006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648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[相对论量子力学]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683153"/>
              <a:ext cx="3223429" cy="3450947"/>
              <a:chOff x="660400" y="2927066"/>
              <a:chExt cx="3223429" cy="345094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0" y="3575065"/>
                <a:ext cx="322342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狄拉克方程的建立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0" y="4223063"/>
                <a:ext cx="3223429" cy="21549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1928年，英国物理学家保罗·狄拉克将狭义相对论与量子力学相结合，提出了描述高速电子行为的狄拉克方程，完成了量子力学与相对论的初步结合。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0" y="2927066"/>
                <a:ext cx="32234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271006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477936" y="2683153"/>
              <a:ext cx="3223429" cy="3450947"/>
              <a:chOff x="4477936" y="2927066"/>
              <a:chExt cx="3223429" cy="345094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4477936" y="3575065"/>
                <a:ext cx="322342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电子自旋的揭示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477936" y="4223063"/>
                <a:ext cx="3223429" cy="21549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狄拉克方程的解自然地包含了电子的内禀角动量，即自旋。这无需像之前那样作为额外假设引入，而是理论的必然结果。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77936" y="2927066"/>
                <a:ext cx="32234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271006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02.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295471" y="2683153"/>
              <a:ext cx="3223429" cy="3450947"/>
              <a:chOff x="8295471" y="2927066"/>
              <a:chExt cx="3223429" cy="3450947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295471" y="3575065"/>
                <a:ext cx="322342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反物质的预言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95471" y="4223063"/>
                <a:ext cx="3223429" cy="21549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方程的解还表明，存在与电子质量相同但电荷相反的粒子态。狄拉克预言了“正电子”的存在。1932年，安德森在宇宙射线中发现了正电子，反物质概念由此诞生。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95471" y="2927066"/>
                <a:ext cx="3223429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271006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03.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[狄拉克方程与反物质]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ee14a81-d566-4c93-9f74-4a49dbe105a4"/>
          <p:cNvGrpSpPr/>
          <p:nvPr/>
        </p:nvGrpSpPr>
        <p:grpSpPr>
          <a:xfrm>
            <a:off x="660400" y="1130300"/>
            <a:ext cx="10858500" cy="4988460"/>
            <a:chOff x="660400" y="1130300"/>
            <a:chExt cx="10858500" cy="4988460"/>
          </a:xfrm>
        </p:grpSpPr>
        <p:sp>
          <p:nvSpPr>
            <p:cNvPr id="3" name="TextBox 3"/>
            <p:cNvSpPr txBox="1"/>
            <p:nvPr/>
          </p:nvSpPr>
          <p:spPr>
            <a:xfrm>
              <a:off x="679450" y="1130300"/>
              <a:ext cx="10833100" cy="102028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 dirty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</a:t>
              </a:r>
              <a:r>
                <a:rPr lang="en-US" sz="2400" b="1" i="0" dirty="0" err="1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经典力学的三场败仗</a:t>
              </a:r>
              <a:r>
                <a:rPr lang="en-US" sz="2400" b="1" i="0" dirty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]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2272165"/>
              <a:ext cx="2461978" cy="3845565"/>
              <a:chOff x="660400" y="2272165"/>
              <a:chExt cx="2073418" cy="3845565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3424427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271006">
                      <a:alpha val="100000"/>
                    </a:srgbClr>
                  </a:gs>
                  <a:gs pos="100000">
                    <a:srgbClr val="AD6B4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60400" y="2272165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271006">
                            <a:alpha val="100000"/>
                          </a:srgbClr>
                        </a:gs>
                        <a:gs pos="100000">
                          <a:srgbClr val="AD6B4C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73100" y="3595453"/>
                <a:ext cx="2028631" cy="79700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黑体辐射：紫外灾难</a:t>
                </a:r>
                <a:endParaRPr lang="en-US" sz="11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05187" y="4408460"/>
                <a:ext cx="2028631" cy="1709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经典理论预言高频辐射能量无穷大，与实验事实严重偏离。量子力学通过能量量子化成功解释了能量分布的峰值和衰减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71941" y="2291056"/>
              <a:ext cx="2423878" cy="3819916"/>
              <a:chOff x="2864693" y="2291056"/>
              <a:chExt cx="2041331" cy="3819916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2864693" y="3427752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271006">
                      <a:alpha val="100000"/>
                    </a:srgbClr>
                  </a:gs>
                  <a:gs pos="100000">
                    <a:srgbClr val="AD6B4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864693" y="3598471"/>
                <a:ext cx="2041331" cy="793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光电效应：能量传递方式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864693" y="229105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 dirty="0">
                    <a:ln/>
                    <a:gradFill>
                      <a:gsLst>
                        <a:gs pos="0">
                          <a:srgbClr val="271006">
                            <a:alpha val="100000"/>
                          </a:srgbClr>
                        </a:gs>
                        <a:gs pos="100000">
                          <a:srgbClr val="AD6B4C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02</a:t>
                </a:r>
                <a:endParaRPr lang="en-US" sz="110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864693" y="4408172"/>
                <a:ext cx="2041331" cy="17028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经典理论认为光强决定电子动能，但实验表明动能只与频率有关。量子力学通过光量子假说，将能量与频率直接挂钩，完美解释了现象。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283482" y="2304006"/>
              <a:ext cx="2423878" cy="3814754"/>
              <a:chOff x="5068985" y="2304006"/>
              <a:chExt cx="2041331" cy="3814754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5068985" y="3419928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271006">
                      <a:alpha val="100000"/>
                    </a:srgbClr>
                  </a:gs>
                  <a:gs pos="100000">
                    <a:srgbClr val="AD6B4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068985" y="358385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原子稳定性：模型塌缩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068985" y="230400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271006">
                            <a:alpha val="100000"/>
                          </a:srgbClr>
                        </a:gs>
                        <a:gs pos="100000">
                          <a:srgbClr val="AD6B4C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068985" y="439349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经典电动力学预言原子会瞬间塌缩，但世界是稳定的。量子力学通过定态和跃迁规则，禁止了电子在定态轨道上的能量辐射，从而保证了原子的稳定。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095022" y="2257446"/>
              <a:ext cx="2423878" cy="3860284"/>
              <a:chOff x="7273278" y="2257446"/>
              <a:chExt cx="2041331" cy="3860284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7273278" y="3412103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271006">
                      <a:alpha val="100000"/>
                    </a:srgbClr>
                  </a:gs>
                  <a:gs pos="100000">
                    <a:srgbClr val="AD6B4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273278" y="358282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结论：实验的必然性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273278" y="225744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ln/>
                    <a:gradFill>
                      <a:gsLst>
                        <a:gs pos="0">
                          <a:srgbClr val="271006">
                            <a:alpha val="100000"/>
                          </a:srgbClr>
                        </a:gs>
                        <a:gs pos="100000">
                          <a:srgbClr val="AD6B4C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273278" y="439246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由此可见，量子力学的诞生是实验事实对经典观念持续施压的必然结果，它是一套被观测事实“逼迫”出来的、更为基础的自然规律描述。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[为何需要量子力学]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e5fc509-29df-419f-abd1-bb213b119ed9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3" name="AutoShape 3"/>
            <p:cNvSpPr/>
            <p:nvPr/>
          </p:nvSpPr>
          <p:spPr>
            <a:xfrm>
              <a:off x="3354133" y="2408240"/>
              <a:ext cx="1366482" cy="3725860"/>
            </a:xfrm>
            <a:prstGeom prst="roundRect">
              <a:avLst>
                <a:gd name="adj" fmla="val 1700"/>
              </a:avLst>
            </a:prstGeom>
            <a:solidFill>
              <a:srgbClr val="FFFFFF">
                <a:alpha val="94901"/>
              </a:srgbClr>
            </a:solidFill>
            <a:ln w="6350">
              <a:solidFill>
                <a:srgbClr val="000000">
                  <a:alpha val="50196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1144403" y="2084072"/>
              <a:ext cx="9180165" cy="0"/>
            </a:xfrm>
            <a:prstGeom prst="line">
              <a:avLst/>
            </a:prstGeom>
            <a:ln w="12700">
              <a:solidFill>
                <a:srgbClr val="271006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 flipH="1">
              <a:off x="660399" y="1130300"/>
              <a:ext cx="10858500" cy="64769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[1900–1928关键事件时间线]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660400" y="1890222"/>
              <a:ext cx="1281209" cy="4243878"/>
              <a:chOff x="660400" y="1890222"/>
              <a:chExt cx="1281209" cy="4243878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56703" y="1890222"/>
                <a:ext cx="387700" cy="387700"/>
              </a:xfrm>
              <a:prstGeom prst="roundRect">
                <a:avLst>
                  <a:gd name="adj" fmla="val 10458"/>
                </a:avLst>
              </a:prstGeom>
              <a:gradFill>
                <a:gsLst>
                  <a:gs pos="0">
                    <a:srgbClr val="271006">
                      <a:alpha val="100000"/>
                      <a:lumMod val="60000"/>
                      <a:lumOff val="40000"/>
                    </a:srgbClr>
                  </a:gs>
                  <a:gs pos="60000">
                    <a:srgbClr val="27100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1" y="2490202"/>
                <a:ext cx="1281208" cy="1191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1900年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3682175"/>
                <a:ext cx="1281208" cy="24519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普朗克为解决黑体辐射问题，提出能量量子化假设。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028368" y="1890222"/>
              <a:ext cx="1281425" cy="4243878"/>
              <a:chOff x="2028368" y="1890222"/>
              <a:chExt cx="1281425" cy="424387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028368" y="2490202"/>
                <a:ext cx="1281208" cy="1191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1905年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028585" y="3682175"/>
                <a:ext cx="1281208" cy="24519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爱因斯坦为解释光电效应，提出光量子假说。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123003" y="1890222"/>
                <a:ext cx="387700" cy="387700"/>
              </a:xfrm>
              <a:prstGeom prst="roundRect">
                <a:avLst>
                  <a:gd name="adj" fmla="val 10458"/>
                </a:avLst>
              </a:prstGeom>
              <a:gradFill>
                <a:gsLst>
                  <a:gs pos="0">
                    <a:srgbClr val="271006">
                      <a:alpha val="100000"/>
                      <a:lumMod val="60000"/>
                      <a:lumOff val="40000"/>
                    </a:srgbClr>
                  </a:gs>
                  <a:gs pos="60000">
                    <a:srgbClr val="27100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396335" y="1890222"/>
              <a:ext cx="1281643" cy="4169282"/>
              <a:chOff x="3396335" y="1890222"/>
              <a:chExt cx="1281643" cy="416928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3489303" y="1890222"/>
                <a:ext cx="387700" cy="387700"/>
              </a:xfrm>
              <a:prstGeom prst="roundRect">
                <a:avLst>
                  <a:gd name="adj" fmla="val 10458"/>
                </a:avLst>
              </a:prstGeom>
              <a:gradFill>
                <a:gsLst>
                  <a:gs pos="0">
                    <a:srgbClr val="271006">
                      <a:alpha val="100000"/>
                      <a:lumMod val="60000"/>
                      <a:lumOff val="40000"/>
                    </a:srgbClr>
                  </a:gs>
                  <a:gs pos="60000">
                    <a:srgbClr val="27100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396335" y="2490202"/>
                <a:ext cx="1281208" cy="1191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1913年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96770" y="3682175"/>
                <a:ext cx="1281208" cy="23773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玻尔为挽救原子稳定性，建立氢原子的量子模型。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764302" y="1890222"/>
              <a:ext cx="1281861" cy="4243878"/>
              <a:chOff x="4764302" y="1890222"/>
              <a:chExt cx="1281861" cy="4243878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855603" y="1890222"/>
                <a:ext cx="387700" cy="387700"/>
              </a:xfrm>
              <a:prstGeom prst="roundRect">
                <a:avLst>
                  <a:gd name="adj" fmla="val 10458"/>
                </a:avLst>
              </a:prstGeom>
              <a:gradFill>
                <a:gsLst>
                  <a:gs pos="0">
                    <a:srgbClr val="271006">
                      <a:alpha val="100000"/>
                      <a:lumMod val="60000"/>
                      <a:lumOff val="40000"/>
                    </a:srgbClr>
                  </a:gs>
                  <a:gs pos="60000">
                    <a:srgbClr val="27100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764302" y="2490202"/>
                <a:ext cx="1281208" cy="1191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1924年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764955" y="3682175"/>
                <a:ext cx="1281208" cy="24519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德布罗意提出物质波假说，将波粒二象性推广至实物粒子</a:t>
                </a:r>
                <a:r>
                  <a:rPr lang="en-US" sz="10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132269" y="1890222"/>
              <a:ext cx="1282079" cy="4243878"/>
              <a:chOff x="6132269" y="1890222"/>
              <a:chExt cx="1282079" cy="424387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221903" y="1890222"/>
                <a:ext cx="387700" cy="387700"/>
              </a:xfrm>
              <a:prstGeom prst="roundRect">
                <a:avLst>
                  <a:gd name="adj" fmla="val 10458"/>
                </a:avLst>
              </a:prstGeom>
              <a:gradFill>
                <a:gsLst>
                  <a:gs pos="0">
                    <a:srgbClr val="271006">
                      <a:alpha val="100000"/>
                      <a:lumMod val="60000"/>
                      <a:lumOff val="40000"/>
                    </a:srgbClr>
                  </a:gs>
                  <a:gs pos="60000">
                    <a:srgbClr val="27100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32269" y="2490202"/>
                <a:ext cx="1281208" cy="1191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1925年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133140" y="3682175"/>
                <a:ext cx="1281208" cy="24519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海森堡创立矩阵力学，奠定量子力学的第一套自洽数学框架。</a:t>
                </a:r>
                <a:endParaRPr lang="en-US" sz="110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500236" y="1890222"/>
              <a:ext cx="1282297" cy="4243878"/>
              <a:chOff x="7500236" y="1890222"/>
              <a:chExt cx="1282297" cy="4243878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588201" y="1890222"/>
                <a:ext cx="387700" cy="387700"/>
              </a:xfrm>
              <a:prstGeom prst="roundRect">
                <a:avLst>
                  <a:gd name="adj" fmla="val 10458"/>
                </a:avLst>
              </a:prstGeom>
              <a:gradFill>
                <a:gsLst>
                  <a:gs pos="0">
                    <a:srgbClr val="271006">
                      <a:alpha val="100000"/>
                      <a:lumMod val="60000"/>
                      <a:lumOff val="40000"/>
                    </a:srgbClr>
                  </a:gs>
                  <a:gs pos="60000">
                    <a:srgbClr val="27100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6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500236" y="2490202"/>
                <a:ext cx="1281208" cy="1191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1926年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01325" y="3682175"/>
                <a:ext cx="1281208" cy="24519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薛定谔建立波动力学，提出薛定谔方程。</a:t>
                </a:r>
                <a:endParaRPr lang="en-US" sz="11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868203" y="1890222"/>
              <a:ext cx="1282515" cy="4243878"/>
              <a:chOff x="8868203" y="1890222"/>
              <a:chExt cx="1282515" cy="4243878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8956386" y="1890222"/>
                <a:ext cx="387700" cy="387700"/>
              </a:xfrm>
              <a:prstGeom prst="roundRect">
                <a:avLst>
                  <a:gd name="adj" fmla="val 10458"/>
                </a:avLst>
              </a:prstGeom>
              <a:gradFill>
                <a:gsLst>
                  <a:gs pos="0">
                    <a:srgbClr val="271006">
                      <a:alpha val="100000"/>
                      <a:lumMod val="60000"/>
                      <a:lumOff val="40000"/>
                    </a:srgbClr>
                  </a:gs>
                  <a:gs pos="60000">
                    <a:srgbClr val="27100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7</a:t>
                </a:r>
                <a:endParaRPr lang="en-US" sz="11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868203" y="2490202"/>
                <a:ext cx="1281208" cy="1191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1927年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869510" y="3682175"/>
                <a:ext cx="1281208" cy="24519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玻恩提出概率诠释，海森堡提出不确定性原理，哥本哈根诠释形成。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236167" y="1890222"/>
              <a:ext cx="1282733" cy="4243878"/>
              <a:chOff x="10236167" y="1890222"/>
              <a:chExt cx="1282733" cy="4243878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10324568" y="1890222"/>
                <a:ext cx="387700" cy="387700"/>
              </a:xfrm>
              <a:prstGeom prst="roundRect">
                <a:avLst>
                  <a:gd name="adj" fmla="val 10458"/>
                </a:avLst>
              </a:prstGeom>
              <a:gradFill>
                <a:gsLst>
                  <a:gs pos="0">
                    <a:srgbClr val="271006">
                      <a:alpha val="100000"/>
                      <a:lumMod val="60000"/>
                      <a:lumOff val="40000"/>
                    </a:srgbClr>
                  </a:gs>
                  <a:gs pos="60000">
                    <a:srgbClr val="27100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8</a:t>
                </a:r>
                <a:endParaRPr lang="en-US" sz="1100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236167" y="2490202"/>
                <a:ext cx="1281208" cy="1191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1928年</a:t>
                </a:r>
                <a:endParaRPr lang="en-US" sz="110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237692" y="3682175"/>
                <a:ext cx="1281208" cy="24519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狄拉克建立相对论量子力学方程，预言反物质存在。</a:t>
                </a:r>
                <a:endParaRPr lang="en-US" sz="1100"/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[三十年思想演进]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807cba4-ae56-49b8-bd11-5b7e0c0631f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690</Words>
  <Application>Microsoft Office PowerPoint</Application>
  <PresentationFormat>宽屏</PresentationFormat>
  <Paragraphs>158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微软雅黑</vt:lpstr>
      <vt:lpstr>Arial</vt:lpstr>
      <vt:lpstr>Calibri</vt:lpstr>
      <vt:lpstr>a807cba4-ae56-49b8-bd11-5b7e0c0631f4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钧昊 黄</cp:lastModifiedBy>
  <cp:revision>3</cp:revision>
  <dcterms:created xsi:type="dcterms:W3CDTF">2006-08-16T00:00:00Z</dcterms:created>
  <dcterms:modified xsi:type="dcterms:W3CDTF">2026-04-22T15:21:04Z</dcterms:modified>
</cp:coreProperties>
</file>